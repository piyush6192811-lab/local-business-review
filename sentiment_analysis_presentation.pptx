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166887"/>
            <a:ext cx="6429375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Local Business Review Sentiment Analysis Using Machine Learning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914400" y="2989938"/>
            <a:ext cx="7429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Leveraging NLP for Actionable Business Intelligence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14400" y="3397132"/>
            <a:ext cx="7429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Presented by: Lucky Khatik &amp; Sameer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14400" y="3668595"/>
            <a:ext cx="7429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Bachelor of Computer Applications (BCA) | 2nd Semester, Jiwaji University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14400" y="3940057"/>
            <a:ext cx="7429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Internship at Naviotech Solution Pvt. Ltd.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4211520"/>
            <a:ext cx="7429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June 30,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1086687"/>
            <a:ext cx="74295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Challenge of Feedback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7250" y="1789621"/>
            <a:ext cx="3571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Context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57250" y="2211102"/>
            <a:ext cx="3571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Modern businesses are inundated with thousands of reviews daily. While these are critical indicators of performance, manual analysis is no longer sustainable.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57250" y="3268377"/>
            <a:ext cx="3571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Customer reviews play a vital role in understanding satisfaction, but the sheer volume makes manual processing difficult and time-consuming.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14875" y="1789621"/>
            <a:ext cx="3571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857750" y="221110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Reading and analyzing each review manually is inefficient and prone to human error, leading to missed insights.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57750" y="3039777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 objective is to develop a Machine Learning model that automatically predicts sentiment, enabling rapid, data-driven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7250"/>
            <a:ext cx="74295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Objectives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7250" y="1617334"/>
            <a:ext cx="2357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207294" y="1617334"/>
            <a:ext cx="33004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Analyze and understand customer review patterns.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636294" y="1617334"/>
            <a:ext cx="2821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02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032772" y="1617334"/>
            <a:ext cx="325397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Clean and preprocess raw textual data for modeling.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7250" y="2225948"/>
            <a:ext cx="2803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03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51942" y="2225948"/>
            <a:ext cx="325576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Extract critical features using TF-IDF vectorization.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636294" y="2225948"/>
            <a:ext cx="3053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04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055989" y="2225948"/>
            <a:ext cx="323076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Train a Logistic Regression model for classification.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7250" y="2834562"/>
            <a:ext cx="2821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05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253728" y="2834562"/>
            <a:ext cx="325397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Evaluate performance using standard ML metrics.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636294" y="2834562"/>
            <a:ext cx="2928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06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043488" y="2834562"/>
            <a:ext cx="32432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Visualize results for business stakeholders.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7250"/>
            <a:ext cx="74295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Dataset Information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7250" y="1760209"/>
            <a:ext cx="35004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DATASET NAME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857250" y="2128112"/>
            <a:ext cx="350043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Amazon Fine Food Reviews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57250" y="2621031"/>
            <a:ext cx="35004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SOURCE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57250" y="2988934"/>
            <a:ext cx="350043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Kaggle Repository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786313" y="1760209"/>
            <a:ext cx="35004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 FEATURES USED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786313" y="1956662"/>
            <a:ext cx="3500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Review Text (Primary Input)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86313" y="2270987"/>
            <a:ext cx="3500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Review Score (Ground Truth)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86313" y="2585312"/>
            <a:ext cx="3500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Review Summary (Context)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86313" y="3371124"/>
            <a:ext cx="35004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TARGET VARIABLE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86313" y="3739028"/>
            <a:ext cx="350043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Binary Sentiment Classification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786313" y="4439115"/>
            <a:ext cx="350043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Classifying reviews into Positive and Negative categories.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7250"/>
            <a:ext cx="74295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Technology Stack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7250" y="1717346"/>
            <a:ext cx="2603897" cy="285750"/>
          </a:xfrm>
          <a:prstGeom prst="rect">
            <a:avLst/>
          </a:prstGeom>
          <a:noFill/>
          <a:ln/>
        </p:spPr>
        <p:txBody>
          <a:bodyPr wrap="square" lIns="0" tIns="0" rIns="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Environment &amp; Language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57250" y="2145971"/>
            <a:ext cx="3571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Python 3.x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57250" y="2431721"/>
            <a:ext cx="3571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Google Colab (Cloud IDE)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14875" y="1717346"/>
            <a:ext cx="1791295" cy="285750"/>
          </a:xfrm>
          <a:prstGeom prst="rect">
            <a:avLst/>
          </a:prstGeom>
          <a:noFill/>
          <a:ln/>
        </p:spPr>
        <p:txBody>
          <a:bodyPr wrap="square" lIns="0" tIns="0" rIns="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Engineering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14875" y="2145971"/>
            <a:ext cx="3571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Pandas (Data Manipulation)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14875" y="2431721"/>
            <a:ext cx="3571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NumPy (Numerical Computing)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7250" y="3017509"/>
            <a:ext cx="2500313" cy="285750"/>
          </a:xfrm>
          <a:prstGeom prst="rect">
            <a:avLst/>
          </a:prstGeom>
          <a:noFill/>
          <a:ln/>
        </p:spPr>
        <p:txBody>
          <a:bodyPr wrap="square" lIns="0" tIns="0" rIns="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Machine Learning &amp; NLP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7250" y="3446134"/>
            <a:ext cx="3571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Scikit-learn (Modeling)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7250" y="3731884"/>
            <a:ext cx="3571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NLTK (Text Preprocessing)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57250" y="4017634"/>
            <a:ext cx="3571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TF-IDF Vectorization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14875" y="3017509"/>
            <a:ext cx="1284089" cy="285750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714875" y="3446134"/>
            <a:ext cx="3571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Matplotlib (Static Plots)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14875" y="3731884"/>
            <a:ext cx="3571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Seaborn (Statistical Graphics)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7250"/>
            <a:ext cx="74295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Methodology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857250" y="1645909"/>
            <a:ext cx="1750219" cy="153121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57250" y="1645909"/>
            <a:ext cx="1750219" cy="28575"/>
          </a:xfrm>
          <a:prstGeom prst="rect">
            <a:avLst/>
          </a:prstGeom>
          <a:solidFill>
            <a:srgbClr val="F08A4B"/>
          </a:solidFill>
          <a:ln/>
        </p:spPr>
      </p:sp>
      <p:sp>
        <p:nvSpPr>
          <p:cNvPr id="6" name="Text 3"/>
          <p:cNvSpPr/>
          <p:nvPr/>
        </p:nvSpPr>
        <p:spPr>
          <a:xfrm>
            <a:off x="1000125" y="1860221"/>
            <a:ext cx="14644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STEP 01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00125" y="2070962"/>
            <a:ext cx="146446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00125" y="2394217"/>
            <a:ext cx="146446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Acquisition of the Amazon Fine Food Reviews dataset from Kaggle.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750344" y="1645909"/>
            <a:ext cx="1750219" cy="1528763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750344" y="1645909"/>
            <a:ext cx="1750219" cy="28575"/>
          </a:xfrm>
          <a:prstGeom prst="rect">
            <a:avLst/>
          </a:prstGeom>
          <a:solidFill>
            <a:srgbClr val="F08A4B"/>
          </a:solidFill>
          <a:ln/>
        </p:spPr>
      </p:sp>
      <p:sp>
        <p:nvSpPr>
          <p:cNvPr id="11" name="Text 8"/>
          <p:cNvSpPr/>
          <p:nvPr/>
        </p:nvSpPr>
        <p:spPr>
          <a:xfrm>
            <a:off x="2893219" y="1860221"/>
            <a:ext cx="14644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STEP 02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893219" y="2070962"/>
            <a:ext cx="146446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893219" y="2394217"/>
            <a:ext cx="1464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Text cleaning, stopword removal, and stemming using NLTK.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43438" y="1645909"/>
            <a:ext cx="1750219" cy="1528763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43438" y="1645909"/>
            <a:ext cx="1750219" cy="28575"/>
          </a:xfrm>
          <a:prstGeom prst="rect">
            <a:avLst/>
          </a:prstGeom>
          <a:solidFill>
            <a:srgbClr val="F08A4B"/>
          </a:solidFill>
          <a:ln/>
        </p:spPr>
      </p:sp>
      <p:sp>
        <p:nvSpPr>
          <p:cNvPr id="16" name="Text 13"/>
          <p:cNvSpPr/>
          <p:nvPr/>
        </p:nvSpPr>
        <p:spPr>
          <a:xfrm>
            <a:off x="4786313" y="1860221"/>
            <a:ext cx="14644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STEP 03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86313" y="2070962"/>
            <a:ext cx="146446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Vectorization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786313" y="2394217"/>
            <a:ext cx="1464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Converting text to numerical features using TF-IDF Vectorization.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536531" y="1645909"/>
            <a:ext cx="1750219" cy="1528763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536531" y="1645909"/>
            <a:ext cx="1750219" cy="28575"/>
          </a:xfrm>
          <a:prstGeom prst="rect">
            <a:avLst/>
          </a:prstGeom>
          <a:solidFill>
            <a:srgbClr val="F08A4B"/>
          </a:solidFill>
          <a:ln/>
        </p:spPr>
      </p:sp>
      <p:sp>
        <p:nvSpPr>
          <p:cNvPr id="21" name="Text 18"/>
          <p:cNvSpPr/>
          <p:nvPr/>
        </p:nvSpPr>
        <p:spPr>
          <a:xfrm>
            <a:off x="6679406" y="1860221"/>
            <a:ext cx="14644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STEP 04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679406" y="2070962"/>
            <a:ext cx="146446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Model Training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679406" y="2394217"/>
            <a:ext cx="1464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Training Logistic Regression on a 80/20 train-test split.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57250" y="3362865"/>
            <a:ext cx="1750219" cy="1528763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857250" y="3362865"/>
            <a:ext cx="1750219" cy="28575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6" name="Text 23"/>
          <p:cNvSpPr/>
          <p:nvPr/>
        </p:nvSpPr>
        <p:spPr>
          <a:xfrm>
            <a:off x="1000125" y="3577177"/>
            <a:ext cx="14644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STEP 05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000125" y="3787918"/>
            <a:ext cx="146446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000125" y="4111172"/>
            <a:ext cx="1464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Generating sentiment labels for the unseen test data.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750344" y="3362865"/>
            <a:ext cx="1750219" cy="1528763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750344" y="3362865"/>
            <a:ext cx="1750219" cy="28575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1" name="Text 28"/>
          <p:cNvSpPr/>
          <p:nvPr/>
        </p:nvSpPr>
        <p:spPr>
          <a:xfrm>
            <a:off x="2893219" y="3577177"/>
            <a:ext cx="14644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STEP 06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2893219" y="3787918"/>
            <a:ext cx="146446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2893219" y="4111172"/>
            <a:ext cx="1464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Assessing performance via Accuracy, Precision, and Recall.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643438" y="3362865"/>
            <a:ext cx="1750219" cy="1528763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643438" y="3362865"/>
            <a:ext cx="1750219" cy="28575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6" name="Text 33"/>
          <p:cNvSpPr/>
          <p:nvPr/>
        </p:nvSpPr>
        <p:spPr>
          <a:xfrm>
            <a:off x="4786313" y="3577177"/>
            <a:ext cx="14644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STEP 07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786313" y="3787918"/>
            <a:ext cx="146446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786313" y="4111172"/>
            <a:ext cx="1464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Creating Confusion Matrix and Sentiment Distribution plots.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536531" y="3362865"/>
            <a:ext cx="1750219" cy="1528763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536531" y="3362865"/>
            <a:ext cx="1750219" cy="28575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1" name="Text 38"/>
          <p:cNvSpPr/>
          <p:nvPr/>
        </p:nvSpPr>
        <p:spPr>
          <a:xfrm>
            <a:off x="6679406" y="3577177"/>
            <a:ext cx="14644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STEP 08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679406" y="3787918"/>
            <a:ext cx="146446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6679406" y="4111172"/>
            <a:ext cx="1464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Finalizing the model for business insight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74295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Model Performance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914400" y="1845934"/>
            <a:ext cx="35004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 trained </a:t>
            </a:r>
            <a:r>
              <a:rPr lang="en-US" sz="10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Logistic Regression</a:t>
            </a: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 model </a:t>
            </a: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successfully classified customer reviews into </a:t>
            </a: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positive and negative categories with high </a:t>
            </a: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reliability.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914400" y="2903209"/>
            <a:ext cx="3500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Performance was evaluated using a comprehensive suite of metrics to ensure the model's robustness across diverse review types.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14400" y="3731884"/>
            <a:ext cx="3500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 results demonstrate that the </a:t>
            </a:r>
            <a:r>
              <a:rPr lang="en-US" sz="10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TF-IDF</a:t>
            </a: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 vectorization effectively captured the semantic </a:t>
            </a: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nuances of the Amazon Fine Food dataset.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843463" y="1703059"/>
            <a:ext cx="3500438" cy="28575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3" y="1845934"/>
            <a:ext cx="3500438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463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7250"/>
            <a:ext cx="74295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Visualization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7250" y="1717346"/>
            <a:ext cx="3429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Sentiment Distribution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57250" y="2103109"/>
            <a:ext cx="34290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 clear breakdown of positive versus negative reviews, highlighting the overall customer sentiment landscape.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57250" y="2960359"/>
            <a:ext cx="3429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7250" y="3346121"/>
            <a:ext cx="34290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Detailed evaluation of model accuracy, showing true positives and negatives to validate predictive performance.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57250" y="4203371"/>
            <a:ext cx="3429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Keyword Analysis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7250" y="4589134"/>
            <a:ext cx="34290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Identification of high-frequency positive words that drive customer satisfaction and brand loyalty.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57750" y="1645909"/>
            <a:ext cx="3429000" cy="32146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931659"/>
            <a:ext cx="3429000" cy="25003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5697" y="4503409"/>
            <a:ext cx="19931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Overall Sentiment Distribution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7250"/>
            <a:ext cx="74295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Business Advantages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7250" y="1788784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Operational Efficiency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57250" y="2174546"/>
            <a:ext cx="3571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Significant time savings by automating the review analysis process, allowing teams to focus on high-value tasks.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14875" y="1788784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Enhanced CX Insights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14875" y="2174546"/>
            <a:ext cx="3571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Improved understanding of customer satisfaction drivers through systematic and unbiased sentiment classification.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57250" y="3360409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Strategic Support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7250" y="3746171"/>
            <a:ext cx="3571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Provides data-backed evidence for critical business decisions, product improvements, and service refinements.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14875" y="3360409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14875" y="3746171"/>
            <a:ext cx="3571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Capable of handling massive datasets that would be impossible to analyze manually as the business grows.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7250"/>
            <a:ext cx="74295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Future Scope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7250" y="1853078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Web &amp; App Integration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57250" y="2238840"/>
            <a:ext cx="35718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Developing a web-based application to provide a user-friendly interface for real-time sentiment prediction.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14875" y="1853078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Advanced Architectures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14875" y="2238840"/>
            <a:ext cx="35718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Integrating Deep Learning models such as LSTM or BERT for more nuanced context and sarcasm detection.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57250" y="3517571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Multilingual Support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7250" y="3903334"/>
            <a:ext cx="35718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Expanding the model's capability to analyze reviews in multiple languages for global business applicability.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14875" y="3517571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Executive Dashboards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14875" y="3903334"/>
            <a:ext cx="35718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Creating comprehensive business analytics dashboards for high-level executive reporting and trend tracking.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857250"/>
            <a:ext cx="74295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Conclusion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7250" y="1645909"/>
            <a:ext cx="6429375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B2A41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This project successfully demonstrates how Machine Learning and Natural Language Processing can be used to analyze customer reviews automatically, providing a scalable solution for modern businesses.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57250" y="3526055"/>
            <a:ext cx="2286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Accurate Insights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57250" y="3863597"/>
            <a:ext cx="2286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 developed model provides reliable sentiment classification, capturing the true voice of the customer.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429000" y="3526055"/>
            <a:ext cx="2286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Operational Impact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429000" y="3863597"/>
            <a:ext cx="22860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Businesses can now understand customer opinions at scale, leading to improved products and services.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00750" y="3526055"/>
            <a:ext cx="2286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Strategic Value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00750" y="3863597"/>
            <a:ext cx="2286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Automated analysis supports data-driven decision-making, reducing reliance on manual, subjective reviews.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4093" y="1535655"/>
            <a:ext cx="365581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30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Thank You</a:t>
            </a:r>
            <a:endParaRPr lang="en-US" sz="5300" dirty="0"/>
          </a:p>
        </p:txBody>
      </p:sp>
      <p:sp>
        <p:nvSpPr>
          <p:cNvPr id="4" name="Text 1"/>
          <p:cNvSpPr/>
          <p:nvPr/>
        </p:nvSpPr>
        <p:spPr>
          <a:xfrm>
            <a:off x="2703909" y="2521493"/>
            <a:ext cx="37361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spc="3" kern="0" dirty="0">
                <a:solidFill>
                  <a:srgbClr val="F08A4B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028700" y="3485899"/>
            <a:ext cx="2003822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08A4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PRESENTED BY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28700" y="3796652"/>
            <a:ext cx="200382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Lucky Khatik &amp; Sameer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36531" y="3605557"/>
            <a:ext cx="17502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Naviotech Solution Pvt. Ltd.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36531" y="3891307"/>
            <a:ext cx="17502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4A5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Jiwaji University, Gwalior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2026-06-30T16:22:35Z</dcterms:created>
  <dcterms:modified xsi:type="dcterms:W3CDTF">2026-06-30T16:22:35Z</dcterms:modified>
</cp:coreProperties>
</file>